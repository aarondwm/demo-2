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083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Article Viewership</a:t>
            </a:r>
            <a:endParaRPr lang="en-US" sz="4600" dirty="0">
              <a:latin typeface="Neue Montreal" panose="00000500000000000000" pitchFamily="50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4600" dirty="0">
              <a:latin typeface="Neue Montreal" panose="00000500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Al Qabas — Kuwait Real Estate Market Analysis</a:t>
            </a:r>
            <a:endParaRPr lang="en-US" sz="1600" dirty="0">
              <a:solidFill>
                <a:schemeClr val="bg1"/>
              </a:solidFill>
              <a:latin typeface="Neue Montreal" panose="00000500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15 – 19, </a:t>
            </a:r>
            <a:r>
              <a:rPr lang="en-US" sz="1300" dirty="0">
                <a:solidFill>
                  <a:schemeClr val="bg1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>
              <a:solidFill>
                <a:schemeClr val="bg1"/>
              </a:solidFill>
              <a:latin typeface="Neue Montreal" panose="00000500000000000000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492857-997B-5045-7060-DA2EDF40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82" y="-564885"/>
            <a:ext cx="4210666" cy="2027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E"/>
                </a:solidFill>
                <a:latin typeface="Neue Montreal" panose="00000500000000000000" pitchFamily="50" charset="0"/>
                <a:ea typeface="Arial" pitchFamily="34" charset="-122"/>
                <a:cs typeface="Arial" pitchFamily="34" charset="-120"/>
              </a:rPr>
              <a:t>TOTAL VIEWERSHIP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00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92,385</a:t>
            </a:r>
            <a:endParaRPr lang="en-US" sz="7200" dirty="0">
              <a:latin typeface="Neue Montreal" panose="00000500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Total Article Views</a:t>
            </a:r>
            <a:endParaRPr lang="en-US" sz="2000" dirty="0">
              <a:latin typeface="Neue Montreal" panose="00000500000000000000" pitchFamily="50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3474720"/>
            <a:ext cx="2468880" cy="118872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 dirty="0">
              <a:latin typeface="Neue Montreal" panose="00000500000000000000" pitchFamily="50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>
              <a:latin typeface="Neue Montreal" panose="00000500000000000000" pitchFamily="50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Days Live</a:t>
            </a:r>
            <a:endParaRPr lang="en-US" sz="1200" dirty="0">
              <a:latin typeface="Neue Montreal" panose="00000500000000000000" pitchFamily="50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83280" y="3474720"/>
            <a:ext cx="2468880" cy="118872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 dirty="0">
              <a:latin typeface="Neue Montreal" panose="00000500000000000000" pitchFamily="50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832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18,477</a:t>
            </a:r>
            <a:endParaRPr lang="en-US" sz="3000" dirty="0">
              <a:latin typeface="Neue Montreal" panose="00000500000000000000" pitchFamily="50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8328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Avg. Daily Views</a:t>
            </a:r>
            <a:endParaRPr lang="en-US" sz="1200" dirty="0">
              <a:latin typeface="Neue Montreal" panose="00000500000000000000" pitchFamily="50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26480" y="3474720"/>
            <a:ext cx="2468880" cy="118872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23,053</a:t>
            </a:r>
            <a:endParaRPr lang="en-US" sz="3000" dirty="0">
              <a:latin typeface="Neue Montreal" panose="00000500000000000000" pitchFamily="50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2648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Peak Day Views</a:t>
            </a:r>
            <a:endParaRPr lang="en-US" sz="1200" dirty="0">
              <a:latin typeface="Neue Montreal" panose="00000500000000000000" pitchFamily="50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7E909E-CDF8-B69A-2856-FF542D782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110" y="557192"/>
            <a:ext cx="3520440" cy="2675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E"/>
                </a:solidFill>
                <a:latin typeface="Neue Montreal" panose="00000500000000000000" pitchFamily="50" charset="0"/>
                <a:ea typeface="Arial" pitchFamily="34" charset="-122"/>
                <a:cs typeface="Arial" pitchFamily="34" charset="-120"/>
              </a:rPr>
              <a:t>INDUSTRY BREAKDOWN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Viewers by Industry</a:t>
            </a:r>
            <a:endParaRPr lang="en-US" sz="1800" dirty="0">
              <a:latin typeface="Neue Montreal" panose="00000500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26080" y="144475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0" y="1444752"/>
            <a:ext cx="5577840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9536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18,565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Engineering Services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26080" y="181051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26080" y="1810512"/>
            <a:ext cx="2528280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458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8,415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2103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26080" y="217627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926080" y="2176272"/>
            <a:ext cx="2315562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33082" y="2103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7,707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Civil Engineering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926080" y="254203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926080" y="2542032"/>
            <a:ext cx="2282513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00033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7,597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720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926080" y="290779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926080" y="2907792"/>
            <a:ext cx="1597789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15309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5,318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Business Consulting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926080" y="327355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926080" y="3273552"/>
            <a:ext cx="1562336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79856" y="32004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5,200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926080" y="363931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926080" y="3639312"/>
            <a:ext cx="1360735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378255" y="3566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4,529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7200" y="3931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Architecture &amp; Planning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926080" y="400507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926080" y="4005072"/>
            <a:ext cx="1350820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368340" y="3931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4,496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57200" y="4297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926080" y="437083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2926080" y="4370832"/>
            <a:ext cx="1104752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122272" y="4297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3,677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4663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Building Construction</a:t>
            </a:r>
            <a:endParaRPr lang="en-US" sz="950" dirty="0">
              <a:latin typeface="Neue Montreal" panose="00000500000000000000" pitchFamily="50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2926080" y="4736592"/>
            <a:ext cx="5577840" cy="201168"/>
          </a:xfrm>
          <a:prstGeom prst="rect">
            <a:avLst/>
          </a:prstGeom>
          <a:solidFill>
            <a:srgbClr val="1A2A42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2926080" y="4736592"/>
            <a:ext cx="968348" cy="2011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985868" y="4663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3,223</a:t>
            </a:r>
            <a:endParaRPr lang="en-US" sz="900" dirty="0">
              <a:latin typeface="Neue Montreal" panose="00000500000000000000" pitchFamily="50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E044419-36DF-A12F-92E1-196FFBB6E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-655482"/>
            <a:ext cx="4210666" cy="2027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DECISION-MAKERS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Senior &amp; Leadership Viewers</a:t>
            </a:r>
            <a:endParaRPr lang="en-US" sz="1800" dirty="0">
              <a:latin typeface="Neue Montreal" panose="00000500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32,937</a:t>
            </a:r>
            <a:endParaRPr lang="en-US" sz="4800" dirty="0">
              <a:latin typeface="Neue Montreal" panose="00000500000000000000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Senior-level and above viewers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14,567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43200" y="274320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43200" y="274320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92608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10,919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92608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Senior Professionals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46320" y="274320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846320" y="274320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3,462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949440" y="274320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49440" y="274320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3232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1,798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323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40080" y="384048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40080" y="384048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82296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1,034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296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C-Suite (CXO)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743200" y="384048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2743200" y="384048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292608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995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92608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Vice Presidents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846320" y="3840480"/>
            <a:ext cx="1920240" cy="9144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4846320" y="384048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02920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2200" dirty="0">
              <a:latin typeface="Neue Montreal" panose="00000500000000000000" pitchFamily="50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02920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85CF4EA-0F86-16CF-775F-813A20F5C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-533481"/>
            <a:ext cx="4210666" cy="2027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E"/>
                </a:solidFill>
                <a:latin typeface="Neue Montreal" panose="00000500000000000000" pitchFamily="50" charset="0"/>
                <a:ea typeface="Arial" pitchFamily="34" charset="-122"/>
                <a:cs typeface="Arial" pitchFamily="34" charset="-120"/>
              </a:rPr>
              <a:t>TOP COMPANIES REACHED</a:t>
            </a:r>
            <a:endParaRPr lang="en-US" sz="1000" b="1" dirty="0">
              <a:latin typeface="Neue Montreal" panose="00000500000000000000" pitchFamily="50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Viewers by Organization</a:t>
            </a:r>
            <a:endParaRPr lang="en-US" sz="1800" dirty="0">
              <a:latin typeface="Neue Montreal" panose="00000500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56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Alghanim International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880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174650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515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Kharafi National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668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211226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156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HEISCO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576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450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515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Combined Group Contracting (KSC)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576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438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40080" y="284378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5156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NBTC Group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6576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396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40080" y="320954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515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Pace | Architecture, Engineering + Planning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6576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350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40080" y="357530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5488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16636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ABJ Engineering &amp; Contracting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724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281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754880" y="174650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5488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1663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KEO International Consultants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77240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265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754880" y="211226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548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16636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Kuwait Oil Company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7724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258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754880" y="247802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5488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166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KCCEC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7724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250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754880" y="284378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75488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16636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Arabi Company W.L.L.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7724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242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754880" y="320954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75488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1663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KNPC</a:t>
            </a:r>
            <a:endParaRPr lang="en-US" sz="1050" dirty="0">
              <a:latin typeface="Neue Montreal" panose="00000500000000000000" pitchFamily="50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77724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92B2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227 views</a:t>
            </a:r>
            <a:endParaRPr lang="en-US" sz="1000" dirty="0">
              <a:latin typeface="Neue Montreal" panose="00000500000000000000" pitchFamily="50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754880" y="3575304"/>
            <a:ext cx="3931920" cy="0"/>
          </a:xfrm>
          <a:prstGeom prst="line">
            <a:avLst/>
          </a:prstGeom>
          <a:noFill/>
          <a:ln w="6350">
            <a:solidFill>
              <a:srgbClr val="1A2A42"/>
            </a:solidFill>
            <a:prstDash val="solid"/>
          </a:ln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solidFill>
            <a:srgbClr val="131E30"/>
          </a:solidFill>
          <a:ln/>
        </p:spPr>
        <p:txBody>
          <a:bodyPr/>
          <a:lstStyle/>
          <a:p>
            <a:endParaRPr lang="en-GB">
              <a:latin typeface="Neue Montreal" panose="00000500000000000000" pitchFamily="50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91440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Neue Montreal" panose="00000500000000000000" pitchFamily="50" charset="0"/>
                <a:ea typeface="Georgia" pitchFamily="34" charset="-122"/>
                <a:cs typeface="Georgia" pitchFamily="34" charset="-120"/>
              </a:rPr>
              <a:t>25+ companies </a:t>
            </a:r>
            <a:r>
              <a:rPr lang="en-US" sz="1100" dirty="0">
                <a:solidFill>
                  <a:srgbClr val="A8BFDC"/>
                </a:solidFill>
                <a:latin typeface="Neue Montreal" panose="00000500000000000000" pitchFamily="50" charset="0"/>
                <a:ea typeface="Calibri" pitchFamily="34" charset="-122"/>
                <a:cs typeface="Calibri" pitchFamily="34" charset="-120"/>
              </a:rPr>
              <a:t>with 150+ views each — spanning construction, engineering, oil &amp; gas, real estate, and financial services across Kuwait.</a:t>
            </a:r>
            <a:endParaRPr lang="en-US" sz="1300" dirty="0">
              <a:latin typeface="Neue Montreal" panose="00000500000000000000" pitchFamily="50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4428289-2276-21CD-3FFB-B9ABD9F52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980" y="-632622"/>
            <a:ext cx="4210666" cy="2027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216</Words>
  <Application>Microsoft Office PowerPoint</Application>
  <PresentationFormat>On-screen Show (16:9)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Montreal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 Viewership Report</dc:title>
  <dc:subject>PptxGenJS Presentation</dc:subject>
  <dc:creator>Diwaniya Media</dc:creator>
  <cp:lastModifiedBy>Eisa Aldouseri (MA Internat Polit Economy FT)</cp:lastModifiedBy>
  <cp:revision>4</cp:revision>
  <dcterms:created xsi:type="dcterms:W3CDTF">2026-02-20T13:30:08Z</dcterms:created>
  <dcterms:modified xsi:type="dcterms:W3CDTF">2026-02-27T11:43:40Z</dcterms:modified>
</cp:coreProperties>
</file>